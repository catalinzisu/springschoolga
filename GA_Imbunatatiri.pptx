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 mai bun</c:v>
                </c:pt>
              </c:strCache>
            </c:strRef>
          </c:tx>
          <c:spPr>
            <a:ln w="31750" cap="flat">
              <a:solidFill>
                <a:srgbClr val="00C8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A0"/>
              </a:solidFill>
              <a:ln w="9525" cap="flat">
                <a:solidFill>
                  <a:srgbClr val="00C8A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4.3093199999999996</c:v>
                </c:pt>
                <c:pt idx="1">
                  <c:v>5.7527100000000004</c:v>
                </c:pt>
                <c:pt idx="2">
                  <c:v>7.1566900000000002</c:v>
                </c:pt>
                <c:pt idx="3">
                  <c:v>9.3836499999999994</c:v>
                </c:pt>
                <c:pt idx="4">
                  <c:v>12.8904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21-4F42-B6CB-5180F8B542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Medie</c:v>
                </c:pt>
              </c:strCache>
            </c:strRef>
          </c:tx>
          <c:spPr>
            <a:ln w="31750" cap="flat">
              <a:solidFill>
                <a:srgbClr val="4A90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90D9"/>
              </a:solidFill>
              <a:ln w="9525" cap="flat">
                <a:solidFill>
                  <a:srgbClr val="4A90D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4.26424</c:v>
                </c:pt>
                <c:pt idx="1">
                  <c:v>4.6374599999999999</c:v>
                </c:pt>
                <c:pt idx="2">
                  <c:v>5.3535500000000003</c:v>
                </c:pt>
                <c:pt idx="3">
                  <c:v>6.3949499999999997</c:v>
                </c:pt>
                <c:pt idx="4">
                  <c:v>7.4934599999999998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721-4F42-B6CB-5180F8B542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Cel mai slab</c:v>
                </c:pt>
              </c:strCache>
            </c:strRef>
          </c:tx>
          <c:spPr>
            <a:ln w="31750" cap="flat">
              <a:solidFill>
                <a:srgbClr val="E05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C5C"/>
              </a:solidFill>
              <a:ln w="9525" cap="flat">
                <a:solidFill>
                  <a:srgbClr val="E05C5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4.1356599999999997</c:v>
                </c:pt>
                <c:pt idx="1">
                  <c:v>4.14961</c:v>
                </c:pt>
                <c:pt idx="2">
                  <c:v>4.4632699999999996</c:v>
                </c:pt>
                <c:pt idx="3">
                  <c:v>4.5370499999999998</c:v>
                </c:pt>
                <c:pt idx="4">
                  <c:v>5.14724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721-4F42-B6CB-5180F8B542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 mai bun</c:v>
                </c:pt>
              </c:strCache>
            </c:strRef>
          </c:tx>
          <c:spPr>
            <a:ln w="31750" cap="flat">
              <a:solidFill>
                <a:srgbClr val="00C8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A0"/>
              </a:solidFill>
              <a:ln w="9525" cap="flat">
                <a:solidFill>
                  <a:srgbClr val="00C8A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8.9168300000000006E-2</c:v>
                </c:pt>
                <c:pt idx="1">
                  <c:v>0.12210799999999999</c:v>
                </c:pt>
                <c:pt idx="2">
                  <c:v>0.131468</c:v>
                </c:pt>
                <c:pt idx="3">
                  <c:v>0.180781</c:v>
                </c:pt>
                <c:pt idx="4">
                  <c:v>0.20141500000000001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646-4AE4-A2D7-E956CC0354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Medie</c:v>
                </c:pt>
              </c:strCache>
            </c:strRef>
          </c:tx>
          <c:spPr>
            <a:ln w="31750" cap="flat">
              <a:solidFill>
                <a:srgbClr val="4A90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90D9"/>
              </a:solidFill>
              <a:ln w="9525" cap="flat">
                <a:solidFill>
                  <a:srgbClr val="4A90D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8.8378600000000002E-2</c:v>
                </c:pt>
                <c:pt idx="1">
                  <c:v>9.4494800000000004E-2</c:v>
                </c:pt>
                <c:pt idx="2">
                  <c:v>0.10459400000000001</c:v>
                </c:pt>
                <c:pt idx="3">
                  <c:v>0.115078</c:v>
                </c:pt>
                <c:pt idx="4">
                  <c:v>0.125526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646-4AE4-A2D7-E956CC0354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Cel mai slab</c:v>
                </c:pt>
              </c:strCache>
            </c:strRef>
          </c:tx>
          <c:spPr>
            <a:ln w="31750" cap="flat">
              <a:solidFill>
                <a:srgbClr val="E05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C5C"/>
              </a:solidFill>
              <a:ln w="9525" cap="flat">
                <a:solidFill>
                  <a:srgbClr val="E05C5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8.6395899999999998E-2</c:v>
                </c:pt>
                <c:pt idx="1">
                  <c:v>8.6401000000000006E-2</c:v>
                </c:pt>
                <c:pt idx="2">
                  <c:v>8.7375499999999995E-2</c:v>
                </c:pt>
                <c:pt idx="3">
                  <c:v>8.7910100000000005E-2</c:v>
                </c:pt>
                <c:pt idx="4">
                  <c:v>8.9227000000000001E-2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646-4AE4-A2D7-E956CC0354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223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645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Genetici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02920" y="234086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Optimizare Structurală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2880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Îmbunătățiri implementate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3310128"/>
            <a:ext cx="3200400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456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Zisu Cătălin  ·  Niculae George  ·  Ioniță Vlad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School 2026  ·  Siemens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B1E"/>
          </a:solidFill>
          <a:ln w="12700">
            <a:solidFill>
              <a:srgbClr val="060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am îmbunătățit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38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Prezentare generală a modificărilor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1A2550"/>
          </a:solidFill>
          <a:ln w="22860">
            <a:solidFill>
              <a:srgbClr val="00C8A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60120"/>
            <a:ext cx="4206240" cy="402336"/>
          </a:xfrm>
          <a:prstGeom prst="rect">
            <a:avLst/>
          </a:prstGeom>
          <a:solidFill>
            <a:srgbClr val="7030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00584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9966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Funcție de Fitness Normalizată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38912" y="1463040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Înlocuirea formulei nenormalizate cu una în [0,1] — selecție mai echitabilă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960120"/>
            <a:ext cx="4206240" cy="1737360"/>
          </a:xfrm>
          <a:prstGeom prst="rect">
            <a:avLst/>
          </a:prstGeom>
          <a:solidFill>
            <a:srgbClr val="1A2550"/>
          </a:solidFill>
          <a:ln w="22860">
            <a:solidFill>
              <a:srgbClr val="4A90D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960120"/>
            <a:ext cx="4206240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00584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9966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Selecție și Încrucișare Îmbunătățite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919472" y="1463040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Turneu (k=3) + încrucișare în două puncte + elitism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4320" y="2926080"/>
            <a:ext cx="4206240" cy="1737360"/>
          </a:xfrm>
          <a:prstGeom prst="rect">
            <a:avLst/>
          </a:prstGeom>
          <a:solidFill>
            <a:srgbClr val="1A2550"/>
          </a:solidFill>
          <a:ln w="22860">
            <a:solidFill>
              <a:srgbClr val="F5A62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74320" y="2926080"/>
            <a:ext cx="420624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97180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296265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Optimizări Memorie și Timp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38912" y="3429000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peste 3× mai rapid — cache FEA, O(1) noduri, deep copy fix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754880" y="2926080"/>
            <a:ext cx="4206240" cy="1737360"/>
          </a:xfrm>
          <a:prstGeom prst="rect">
            <a:avLst/>
          </a:prstGeom>
          <a:solidFill>
            <a:srgbClr val="1A2550"/>
          </a:solidFill>
          <a:ln w="22860">
            <a:solidFill>
              <a:srgbClr val="8899A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54880" y="2926080"/>
            <a:ext cx="4206240" cy="40233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2971800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03520" y="296265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Interfață Grafică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919472" y="3429000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parametri + vizualizare rezultate în browser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B1E"/>
          </a:solidFill>
          <a:ln w="12700">
            <a:solidFill>
              <a:srgbClr val="060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Funcție de Fitness Normalizată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38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am schimbat formula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4160520" cy="3977640"/>
          </a:xfrm>
          <a:prstGeom prst="rect">
            <a:avLst/>
          </a:prstGeom>
          <a:solidFill>
            <a:srgbClr val="1A2550"/>
          </a:solidFill>
          <a:ln w="22860">
            <a:solidFill>
              <a:srgbClr val="E05C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14400"/>
            <a:ext cx="4160520" cy="40233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941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veche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44475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=  R²  ×  (maxS − maxSS)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1148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Valorile fitness ajung la 10¹² — complet nenormalizat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236829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R² crește exploziv chiar și la diferențe mici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7706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Selecția prin ruletă era dominată de un singur individ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3172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Diversitatea populației dispărea rapid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35753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Imposibil de comparat între dimensiuni de grid diferite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36592" y="914400"/>
            <a:ext cx="4160520" cy="3977640"/>
          </a:xfrm>
          <a:prstGeom prst="rect">
            <a:avLst/>
          </a:prstGeom>
          <a:solidFill>
            <a:srgbClr val="1A2550"/>
          </a:solidFill>
          <a:ln w="22860">
            <a:solidFill>
              <a:srgbClr val="00C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36592" y="914400"/>
            <a:ext cx="4160520" cy="40233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73752" y="941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nouă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</a:t>
            </a:r>
            <a:r>
              <a:rPr lang="en-US" sz="1400" b="1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(R/total)</a:t>
            </a:r>
            <a:r>
              <a:rPr lang="en-US" sz="14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^1.5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</a:t>
            </a:r>
            <a:r>
              <a:rPr lang="en-US" sz="1400" b="1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(maxS − maxSS)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b="1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73752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Valori în intervalul [0, 1] — complet normalizat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73752" y="236829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α=1.5 recompensează eliminarea fără explozie numerică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27706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Gradient lin → selecție echitabilă pentru toți indivizii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73752" y="3172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Diversitatea populației se menține pe toate epocile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73752" y="35753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Comparabil indiferent de dimensiunea grid-ului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B1E"/>
          </a:solidFill>
          <a:ln w="12700">
            <a:solidFill>
              <a:srgbClr val="060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Evoluție Comparativă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38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veche vs formula nouă — date reale din rulări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veche  (×10¹¹)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182880" y="114300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66344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nouă  [0 – 1]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663440" y="114300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4544568" y="822960"/>
            <a:ext cx="54864" cy="402336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B1E"/>
          </a:solidFill>
          <a:ln w="12700">
            <a:solidFill>
              <a:srgbClr val="060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Selecție și Încrucișare Îmbunătățite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38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 și justificare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3977640" cy="3977640"/>
          </a:xfrm>
          <a:prstGeom prst="rect">
            <a:avLst/>
          </a:prstGeom>
          <a:solidFill>
            <a:srgbClr val="1A2550"/>
          </a:solidFill>
          <a:ln w="22860">
            <a:solidFill>
              <a:srgbClr val="E05C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14400"/>
            <a:ext cx="3977640" cy="40233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9418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Selecție prin Ruletă  (vechi)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4173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funcționează: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72821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individ primește o "felie" din roată proporțională cu fitness-ul său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21488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în cazul nostru: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45973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Valorile FEA diferă cu ordine de mărime (10¹¹ vs 10¹²)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" y="28803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singur individ captura &gt;50% din roată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" y="330098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Întreaga populație devenea clone ale aceluiași individ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11480" y="372160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Algoritmul converge prematur și nu mai explorează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92040" y="914400"/>
            <a:ext cx="3977640" cy="3977640"/>
          </a:xfrm>
          <a:prstGeom prst="rect">
            <a:avLst/>
          </a:prstGeom>
          <a:solidFill>
            <a:srgbClr val="1A2550"/>
          </a:solidFill>
          <a:ln w="22860">
            <a:solidFill>
              <a:srgbClr val="00C8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914400"/>
            <a:ext cx="3977640" cy="40233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9418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Selecție prin Turneu  k=3  (nou)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14173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funcționează: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0" y="172821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aleg 3 indivizi aleator — cel mai bun câștigă și intră în generația nouă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29200" y="21488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e mai bun: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0" y="245973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depinde de valorile absolute ale fitness-ului, ci de ordinea relativă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0" y="28803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Rezistent la dominanța unui singur individ cu fitness extrem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029200" y="330098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Diversitatea populației se menține mult mai bine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029200" y="372160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Elitism: cel mai bun individ trece direct — nu pierdem soluții bune (FEA costisitor!)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07408" y="868680"/>
            <a:ext cx="54864" cy="406908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</p:spTree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B1E"/>
          </a:solidFill>
          <a:ln w="12700">
            <a:solidFill>
              <a:srgbClr val="060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Încrucișare în Două Puncte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38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am trecut de la un punct la două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3977640" cy="3977640"/>
          </a:xfrm>
          <a:prstGeom prst="rect">
            <a:avLst/>
          </a:prstGeom>
          <a:solidFill>
            <a:srgbClr val="1A2550"/>
          </a:solidFill>
          <a:ln w="22860">
            <a:solidFill>
              <a:srgbClr val="E05C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14400"/>
            <a:ext cx="3977640" cy="40233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9418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Încrucișare un singur punct  (vechi)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1480" y="14447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 A A A | B B B B B B 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192024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 singur punct de tăietură ales aleator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235915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Copilul moștenește o regiune din fiecare părinte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279806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Limitare: capătul stâng vine mereu de la Părinte A și capătul drept de la Părinte B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" y="323697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Imposibil să combini trăsăturile de la ambele capete ale aceluiași părinte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" y="36758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Sub-optim pentru cromozomi care reprezintă structuri 3D spațiale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892040" y="914400"/>
            <a:ext cx="3977640" cy="3977640"/>
          </a:xfrm>
          <a:prstGeom prst="rect">
            <a:avLst/>
          </a:prstGeom>
          <a:solidFill>
            <a:srgbClr val="1A2550"/>
          </a:solidFill>
          <a:ln w="22860">
            <a:solidFill>
              <a:srgbClr val="00C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92040" y="914400"/>
            <a:ext cx="3977640" cy="40233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9418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Încrucișare două puncte  (nou)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0" y="14447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 A | B B B B | A A ]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192024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Două puncte p1 &lt; p2 — segmentul dintre ele e schimbat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0" y="235915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Copilul poate moșteni trăsăturile de la ambele capete ale unui singur părinte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29200" y="279806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 mai potrivit pentru podul nostru: capetele (stâlpii de susținere) pot fi păstrate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0" y="323697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Studiile pe optimizare structurală arată rezultate mai bune față de un singur punct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0" y="36758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Sursă: Goldberg, D.E. — Genetic Algorithms (1989), Cap. 6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407408" y="868680"/>
            <a:ext cx="54864" cy="406908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B1E"/>
          </a:solidFill>
          <a:ln w="12700">
            <a:solidFill>
              <a:srgbClr val="060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Optimizări de Memorie și Timp de Execuție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38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 algoritmul rulează de peste 3× mai rapid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896112"/>
            <a:ext cx="8595360" cy="566928"/>
          </a:xfrm>
          <a:prstGeom prst="rect">
            <a:avLst/>
          </a:prstGeom>
          <a:solidFill>
            <a:srgbClr val="1A3520"/>
          </a:solidFill>
          <a:ln w="19050">
            <a:solidFill>
              <a:srgbClr val="00C8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509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Timp de rulare redus cu peste 3×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față de implementarea inițială — prin combinarea celor 4 optimizări de mai jos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600200"/>
            <a:ext cx="4206240" cy="1508760"/>
          </a:xfrm>
          <a:prstGeom prst="rect">
            <a:avLst/>
          </a:prstGeom>
          <a:solidFill>
            <a:srgbClr val="1A2550"/>
          </a:solidFill>
          <a:ln w="19050">
            <a:solidFill>
              <a:srgbClr val="00C8A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70992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" y="16916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Remediere Deep Copy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02336" y="2112264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 folosea shared_ptr — ambii indivizi împărțeau același mesh. Acum fiecare individ are propriul Building independent (CreateBuildingFromDetails).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09160" y="1600200"/>
            <a:ext cx="4206240" cy="1508760"/>
          </a:xfrm>
          <a:prstGeom prst="rect">
            <a:avLst/>
          </a:prstGeom>
          <a:solidFill>
            <a:srgbClr val="1A2550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170992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12664" y="16916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Fitness cu Dirty Flag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837176" y="2112264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SimulateAndGetMaximStress() rula simularea FEA completă la fiecare apel. Acum rezultatul e salvat — se re-rulează doar când genele s-au schimbat.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4320" y="3264408"/>
            <a:ext cx="4206240" cy="1508760"/>
          </a:xfrm>
          <a:prstGeom prst="rect">
            <a:avLst/>
          </a:prstGeom>
          <a:solidFill>
            <a:srgbClr val="1A2550"/>
          </a:solidFill>
          <a:ln w="19050">
            <a:solidFill>
              <a:srgbClr val="4A90D9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37413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33558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O(1) Noduri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02336" y="3776472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NodeAlreadyExistsInMesh() făcea O(n) scanare liniară per nod. Înlocuit cu unordered_map indexat prin cheie XYZ cu precizie de 10⁻⁶.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09160" y="3264408"/>
            <a:ext cx="4206240" cy="1508760"/>
          </a:xfrm>
          <a:prstGeom prst="rect">
            <a:avLst/>
          </a:prstGeom>
          <a:solidFill>
            <a:srgbClr val="1A2550"/>
          </a:solidFill>
          <a:ln w="19050">
            <a:solidFill>
              <a:srgbClr val="E05C5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337413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12664" y="33558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vector&lt;bool&gt; → vector&lt;uint8_t&gt;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837176" y="3776472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std::vector&lt;bool&gt; împachetează biți cu acces lent prin proxy objects. uint8_t oferă acces direct la element în toate fișierele proiectului.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B1E"/>
          </a:solidFill>
          <a:ln w="12700">
            <a:solidFill>
              <a:srgbClr val="060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Interfață Grafică de Configurare și Vizualizare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38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web — un singur fișier HTML, fără dependențe externe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4160520" cy="3977640"/>
          </a:xfrm>
          <a:prstGeom prst="rect">
            <a:avLst/>
          </a:prstGeom>
          <a:solidFill>
            <a:srgbClr val="1A2550"/>
          </a:solidFill>
          <a:ln w="22860">
            <a:solidFill>
              <a:srgbClr val="00C8A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14400"/>
            <a:ext cx="4160520" cy="40233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941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Panou de Configurare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417320"/>
            <a:ext cx="3886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Câmpuri pentru toți parametrii: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Epoci · Populație · Prob. încrucișare
Prob. mutație · Grid Ox/Oy/Oz · Mărime element
Stres maxim · Modul Young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Config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Generează algorithm_settings.txt în formatul exact citit de proiectul C++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automată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Câmpuri goale sau non-numerice sunt marcate cu roșu înainte de export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36592" y="914400"/>
            <a:ext cx="4160520" cy="3977640"/>
          </a:xfrm>
          <a:prstGeom prst="rect">
            <a:avLst/>
          </a:prstGeom>
          <a:solidFill>
            <a:srgbClr val="1A2550"/>
          </a:solidFill>
          <a:ln w="22860">
            <a:solidFill>
              <a:srgbClr val="4A90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36592" y="914400"/>
            <a:ext cx="4160520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73752" y="941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Rezultate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73752" y="1417320"/>
            <a:ext cx="3886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Încărcare CSV prin drag &amp; drop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Detectare automată: fitness_stats.csv sau profiling_stats.csv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 evoluție fitness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linii: Cel mai bun / Medie / Cel mai slab
Bandă colorată între Best și Worst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 profiling timpi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stivuite per epocă: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FitnessTime · SelectionTime · CrossoverTime · MutationTime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 total afișat deasupra fiecărei bare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26280" y="868680"/>
            <a:ext cx="91440" cy="406908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0B1E"/>
          </a:solidFill>
          <a:ln w="12700">
            <a:solidFill>
              <a:srgbClr val="060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Bibliografie și Justificări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38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Surse care au fundamentat alegerile de implementare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1A2550"/>
          </a:solidFill>
          <a:ln w="19050">
            <a:solidFill>
              <a:srgbClr val="00C8A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60120"/>
            <a:ext cx="128016" cy="91440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Eiben, A.E. &amp; Smith, J.E. — Introduction to Evolutionary Computing, 2nd ed. Springer, 2015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2064" y="13624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Selecție prin turneu — Secțiunea 5.2 demonstrează că gestionează scala fitness-ului mai bine decât roulette wheel. Direct aplicabil valorilor FEA care diferă cu ordine de mărime.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1A255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965960"/>
            <a:ext cx="128016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2011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Goldberg, D.E. — Genetic Algorithms in Search, Optimization &amp; Machine Learning. Addison-Wesley, 1989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2064" y="23682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Încrucișare în două puncte — Capitolul 6: operatorii multi-punct păstrează blocuri de construcție în cromozomi structurați, potrivit reprezentării noastre 3D pod.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971800"/>
            <a:ext cx="8595360" cy="914400"/>
          </a:xfrm>
          <a:prstGeom prst="rect">
            <a:avLst/>
          </a:prstGeom>
          <a:solidFill>
            <a:srgbClr val="1A255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971800"/>
            <a:ext cx="128016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3017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De Jong, K.A. — Evolutionary Computation: A Unified Approach. MIT Press, 2006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12064" y="3374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 — Capitolul 7: strategiile elitiste previn pierderea celor mai bune soluții când evaluarea fitness este scumpă, ca simularea noastră FEA cu Chrono.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1A2550"/>
          </a:solidFill>
          <a:ln w="19050">
            <a:solidFill>
              <a:srgbClr val="8899A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3977640"/>
            <a:ext cx="128016" cy="91440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40233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medium.datadriveninvestor.com/genetic-algorithms-selection  &amp;  medium.com/geekculture/crossover-operators-in-ga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12064" y="43799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 practic al implementărilor — confirmă că alegerile teoretice se aliniază cu practica din industrie pentru probleme de optimizare structurală.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Mulțumim!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0" y="2542032"/>
            <a:ext cx="3657600" cy="36576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651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Zisu Cătălin  ·  Niculae George  ·  Ioniță Vlad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School 2026  ·  Siemens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1118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Siemens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 Genetici — Îmbunătățiri</dc:title>
  <dc:subject>PptxGenJS Presentation</dc:subject>
  <dc:creator>Zisu Cătălin, Niculae George, Ioniță Vlad</dc:creator>
  <cp:lastModifiedBy>Catalin Zisu</cp:lastModifiedBy>
  <cp:revision>2</cp:revision>
  <dcterms:created xsi:type="dcterms:W3CDTF">2026-05-21T05:25:10Z</dcterms:created>
  <dcterms:modified xsi:type="dcterms:W3CDTF">2026-05-21T05:46:17Z</dcterms:modified>
</cp:coreProperties>
</file>